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718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0752" y="320040"/>
            <a:ext cx="1682496" cy="256032"/>
          </a:xfrm>
          <a:prstGeom prst="roundRect">
            <a:avLst>
              <a:gd name="adj" fmla="val 50000"/>
            </a:avLst>
          </a:prstGeom>
          <a:solidFill>
            <a:srgbClr val="CFE6D0"/>
          </a:solidFill>
          <a:ln w="12700">
            <a:solidFill>
              <a:srgbClr val="CFE6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730752" y="32004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Delivery Performance Intelligence Dashboard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Delivery Performance, Operational Costs &amp; Customer Satisfaction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Asmiya Farin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 |  Microsoft Excel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FE6D0"/>
          </a:solidFill>
          <a:ln w="12700">
            <a:solidFill>
              <a:srgbClr val="CFE6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logistics and delivery performance using Microsoft Power BI.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00784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delivery performance, identify delays, analyze costs, and monitor customer satisfaction.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/home/claude/ic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007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companies need to track delivery delays, operational costs, and service quality to improve their operations.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500" dirty="0"/>
          </a:p>
        </p:txBody>
      </p:sp>
      <p:pic>
        <p:nvPicPr>
          <p:cNvPr id="15" name="Image 2" descr="/home/claude/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0156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340156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delivery performance across partners and regions.</a:t>
            </a:r>
            <a:endParaRPr lang="en-US" sz="1300" dirty="0"/>
          </a:p>
        </p:txBody>
      </p:sp>
      <p:pic>
        <p:nvPicPr>
          <p:cNvPr id="17" name="Image 3" descr="/home/claude/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7588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36758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in delivery delays.</a:t>
            </a:r>
            <a:endParaRPr lang="en-US" sz="1300" dirty="0"/>
          </a:p>
        </p:txBody>
      </p:sp>
      <p:pic>
        <p:nvPicPr>
          <p:cNvPr id="19" name="Image 4" descr="/home/claude/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50208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77240" y="395020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delivery costs across vehicles, modes, and package types.</a:t>
            </a:r>
            <a:endParaRPr lang="en-US" sz="1300" dirty="0"/>
          </a:p>
        </p:txBody>
      </p:sp>
      <p:pic>
        <p:nvPicPr>
          <p:cNvPr id="21" name="Image 5" descr="/home/claude/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24528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77240" y="422452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customer ratings and service quality.</a:t>
            </a:r>
            <a:endParaRPr lang="en-US" sz="1300" dirty="0"/>
          </a:p>
        </p:txBody>
      </p:sp>
      <p:pic>
        <p:nvPicPr>
          <p:cNvPr id="23" name="Image 6" descr="/home/claude/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98848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77240" y="449884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insights through an interactive Power BI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71016" cy="256032"/>
          </a:xfrm>
          <a:prstGeom prst="roundRect">
            <a:avLst>
              <a:gd name="adj" fmla="val 50000"/>
            </a:avLst>
          </a:prstGeom>
          <a:solidFill>
            <a:srgbClr val="CFE6D0"/>
          </a:solidFill>
          <a:ln w="12700">
            <a:solidFill>
              <a:srgbClr val="CFE6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 used for delivery performance analysis.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ic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928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6642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Records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/home/claude/ic_c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928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16642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Fields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1636776" cy="310896"/>
          </a:xfrm>
          <a:prstGeom prst="roundRect">
            <a:avLst>
              <a:gd name="adj" fmla="val 50000"/>
            </a:avLst>
          </a:prstGeom>
          <a:solidFill>
            <a:srgbClr val="E4DED0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306324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03704" y="3063240"/>
            <a:ext cx="813816" cy="310896"/>
          </a:xfrm>
          <a:prstGeom prst="roundRect">
            <a:avLst>
              <a:gd name="adj" fmla="val 50000"/>
            </a:avLst>
          </a:prstGeom>
          <a:solidFill>
            <a:srgbClr val="E4DED0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203704" y="3063240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127248" y="3063240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E4DED0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127248" y="306324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Type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44568" y="3063240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E4DED0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544568" y="306324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7200" y="347472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E4DED0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7200" y="347472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1956816" y="3474720"/>
            <a:ext cx="978408" cy="310896"/>
          </a:xfrm>
          <a:prstGeom prst="roundRect">
            <a:avLst>
              <a:gd name="adj" fmla="val 50000"/>
            </a:avLst>
          </a:prstGeom>
          <a:solidFill>
            <a:srgbClr val="E4DED0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956816" y="34747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044952" y="3474720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E4DED0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044952" y="347472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Cost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544568" y="34747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4DED0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544568" y="34747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Rating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85800" y="40690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685800" y="431596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Delivery Logistics Dataset (India – Multi-Partner)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85800" y="451713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https://www.kaggle.com/datasets/muhammadahmaddaar/delivery-logistics-dataset-india-multi-partner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71016" cy="256032"/>
          </a:xfrm>
          <a:prstGeom prst="roundRect">
            <a:avLst>
              <a:gd name="adj" fmla="val 50000"/>
            </a:avLst>
          </a:prstGeom>
          <a:solidFill>
            <a:srgbClr val="CFE6D0"/>
          </a:solidFill>
          <a:ln w="12700">
            <a:solidFill>
              <a:srgbClr val="CFE6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Project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ic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276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review and preparation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/home/claude/ic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276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and dashboards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3017520"/>
            <a:ext cx="384048" cy="384048"/>
          </a:xfrm>
          <a:prstGeom prst="ellipse">
            <a:avLst/>
          </a:prstGeom>
          <a:solidFill>
            <a:srgbClr val="176B50"/>
          </a:solidFill>
          <a:ln w="12700">
            <a:solidFill>
              <a:srgbClr val="176B5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94360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94360" y="3840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the dataset from Kaggle.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130552" y="288036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267712" y="3017520"/>
            <a:ext cx="384048" cy="384048"/>
          </a:xfrm>
          <a:prstGeom prst="ellipse">
            <a:avLst/>
          </a:prstGeom>
          <a:solidFill>
            <a:srgbClr val="176B50"/>
          </a:solidFill>
          <a:ln w="12700">
            <a:solidFill>
              <a:srgbClr val="176B5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267712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67712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2267712" y="3840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prepare the data.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803904" y="288036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41064" y="3017520"/>
            <a:ext cx="384048" cy="384048"/>
          </a:xfrm>
          <a:prstGeom prst="ellipse">
            <a:avLst/>
          </a:prstGeom>
          <a:solidFill>
            <a:srgbClr val="176B50"/>
          </a:solidFill>
          <a:ln w="12700">
            <a:solidFill>
              <a:srgbClr val="176B5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941064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3941064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3941064" y="3840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fields and create DAX measures.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477256" y="288036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614416" y="3017520"/>
            <a:ext cx="384048" cy="384048"/>
          </a:xfrm>
          <a:prstGeom prst="ellipse">
            <a:avLst/>
          </a:prstGeom>
          <a:solidFill>
            <a:srgbClr val="176B50"/>
          </a:solidFill>
          <a:ln w="12700">
            <a:solidFill>
              <a:srgbClr val="176B5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614416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5614416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5614416" y="3840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charts, KPI cards and slicers.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7150608" y="2880360"/>
            <a:ext cx="1536192" cy="18288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287768" y="3017520"/>
            <a:ext cx="384048" cy="384048"/>
          </a:xfrm>
          <a:prstGeom prst="ellipse">
            <a:avLst/>
          </a:prstGeom>
          <a:solidFill>
            <a:srgbClr val="176B50"/>
          </a:solidFill>
          <a:ln w="12700">
            <a:solidFill>
              <a:srgbClr val="176B50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287768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7287768" y="3520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7287768" y="3840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delivery performance, costs and ratings.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CFE6D0"/>
          </a:solidFill>
          <a:ln w="12700">
            <a:solidFill>
              <a:srgbClr val="CFE6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organized into five pages to explore different aspects of logistics performance.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76B50"/>
          </a:solidFill>
          <a:ln w="12700">
            <a:solidFill>
              <a:srgbClr val="176B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002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5623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delivery KPIs and performance.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76B50"/>
          </a:solidFill>
          <a:ln w="12700">
            <a:solidFill>
              <a:srgbClr val="176B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037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Analysis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5973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patterns across partners, regions and delivery categories.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76B50"/>
          </a:solidFill>
          <a:ln w="12700">
            <a:solidFill>
              <a:srgbClr val="176B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072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Operations Analysis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632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costs across partners, vehicles and modes.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76B50"/>
          </a:solidFill>
          <a:ln w="12700">
            <a:solidFill>
              <a:srgbClr val="176B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107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Service Analysis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6674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and service quality.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142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76B50"/>
          </a:solidFill>
          <a:ln w="12700">
            <a:solidFill>
              <a:srgbClr val="176B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142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Package Cost Insights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2702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comparisons across regions and package types.</a:t>
            </a:r>
            <a:endParaRPr lang="en-US" sz="1200" dirty="0"/>
          </a:p>
        </p:txBody>
      </p:sp>
      <p:pic>
        <p:nvPicPr>
          <p:cNvPr id="26" name="Image 0" descr="/home/claude/ic_cl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99432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2296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 and slicers help users explore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| Page 1: Executive Overview</a:t>
            </a:r>
            <a:endParaRPr lang="en-US" sz="1800" dirty="0"/>
          </a:p>
        </p:txBody>
      </p:sp>
      <p:pic>
        <p:nvPicPr>
          <p:cNvPr id="3" name="Image 0" descr="/mnt/user-data/uploads/page1_executiv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087" y="731520"/>
            <a:ext cx="716782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| Page 2: Delivery Performance Analysis</a:t>
            </a:r>
            <a:endParaRPr lang="en-US" sz="1800" dirty="0"/>
          </a:p>
        </p:txBody>
      </p:sp>
      <p:pic>
        <p:nvPicPr>
          <p:cNvPr id="3" name="Image 0" descr="/mnt/user-data/uploads/page2_delivery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06" y="731520"/>
            <a:ext cx="715798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| Page 3: Cost &amp; Operations Analysis</a:t>
            </a:r>
            <a:endParaRPr lang="en-US" sz="1800" dirty="0"/>
          </a:p>
        </p:txBody>
      </p:sp>
      <p:pic>
        <p:nvPicPr>
          <p:cNvPr id="3" name="Image 0" descr="/mnt/user-data/uploads/page3_cost_ope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21" y="731520"/>
            <a:ext cx="7260358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| Page 4: Customer &amp; Service Analysis</a:t>
            </a:r>
            <a:endParaRPr lang="en-US" sz="1800" dirty="0"/>
          </a:p>
        </p:txBody>
      </p:sp>
      <p:pic>
        <p:nvPicPr>
          <p:cNvPr id="3" name="Image 0" descr="/mnt/user-data/uploads/page4_customer_ser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49" y="731520"/>
            <a:ext cx="717970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 | Page 5: Regional &amp; Package Cost Insights</a:t>
            </a:r>
            <a:endParaRPr lang="en-US" sz="1800" dirty="0"/>
          </a:p>
        </p:txBody>
      </p:sp>
      <p:pic>
        <p:nvPicPr>
          <p:cNvPr id="3" name="Image 0" descr="/mnt/user-data/uploads/page5_regional_package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303" y="731520"/>
            <a:ext cx="7177393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CFE6D0"/>
          </a:solidFill>
          <a:ln w="12700">
            <a:solidFill>
              <a:srgbClr val="CFE6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delivery performance from the dataset.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122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6,669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1122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Deliveries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072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56032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072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₹864.94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0325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Cost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52044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3.67 / 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40325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Rating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2EBDF"/>
          </a:solidFill>
          <a:ln w="12700">
            <a:solidFill>
              <a:srgbClr val="E2EB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summarizes delivery delays, on-time performance, average delivery costs and customer ratings.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CFE6D0"/>
          </a:solidFill>
          <a:ln w="12700">
            <a:solidFill>
              <a:srgbClr val="CFE6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dashboard can support logistics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ic_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Delivery Performance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partners and regions with higher delay rates.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/home/claude/ic_rup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373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Delivery Costs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costs across vehicles, delivery modes and package types.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/home/claude/ic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004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Service Quality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customer ratings and identify areas for service improvement.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30632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/home/claude/ic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004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39496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Decision-Making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89204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KPIs and interactive reports to explore operational patterns.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view of delivery operations, costs and service quality.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0" y="32004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CFE6D0"/>
          </a:solidFill>
          <a:ln w="12700">
            <a:solidFill>
              <a:srgbClr val="CFE6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771900" y="320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pic>
        <p:nvPicPr>
          <p:cNvPr id="5" name="Image 0" descr="/home/claude/ic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783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Microsoft Power BI can be used to analyze logistics delivery performance through interactive dashboards and key performance indicators.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5603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helped me develop practical skills in data preparation, DAX measures, data visualization and business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3291840"/>
            <a:ext cx="6400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1600" y="3429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Asmiya Farin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588</Words>
  <Application>Microsoft Office PowerPoint</Application>
  <PresentationFormat>On-screen Show (16:9)</PresentationFormat>
  <Paragraphs>132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Asmiya Farin Sadhik Ali</cp:lastModifiedBy>
  <cp:revision>1</cp:revision>
  <dcterms:created xsi:type="dcterms:W3CDTF">2026-09-30T22:23:30Z</dcterms:created>
  <dcterms:modified xsi:type="dcterms:W3CDTF">2026-09-30T22:28:14Z</dcterms:modified>
</cp:coreProperties>
</file>